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6" r:id="rId2"/>
    <p:sldId id="257" r:id="rId3"/>
    <p:sldId id="266" r:id="rId4"/>
    <p:sldId id="267" r:id="rId5"/>
    <p:sldId id="268" r:id="rId6"/>
    <p:sldId id="269" r:id="rId7"/>
    <p:sldId id="258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64" r:id="rId26"/>
    <p:sldId id="265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6E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2D7650-E18E-CA8A-336E-71ACCBCFAA46}" v="50" dt="2026-02-22T08:21:03.6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. HAMID UDDIN" userId="S::hamid.uddin@aiub.edu::21a300d2-39b3-4b94-a8d2-b286a458fe73" providerId="AD" clId="Web-{132D7650-E18E-CA8A-336E-71ACCBCFAA46}"/>
    <pc:docChg chg="addSld modSld">
      <pc:chgData name="MD. HAMID UDDIN" userId="S::hamid.uddin@aiub.edu::21a300d2-39b3-4b94-a8d2-b286a458fe73" providerId="AD" clId="Web-{132D7650-E18E-CA8A-336E-71ACCBCFAA46}" dt="2026-02-22T07:20:52.577" v="33" actId="20577"/>
      <pc:docMkLst>
        <pc:docMk/>
      </pc:docMkLst>
      <pc:sldChg chg="modSp add replId">
        <pc:chgData name="MD. HAMID UDDIN" userId="S::hamid.uddin@aiub.edu::21a300d2-39b3-4b94-a8d2-b286a458fe73" providerId="AD" clId="Web-{132D7650-E18E-CA8A-336E-71ACCBCFAA46}" dt="2026-02-22T07:20:52.577" v="33" actId="20577"/>
        <pc:sldMkLst>
          <pc:docMk/>
          <pc:sldMk cId="3382580844" sldId="286"/>
        </pc:sldMkLst>
        <pc:spChg chg="mod">
          <ac:chgData name="MD. HAMID UDDIN" userId="S::hamid.uddin@aiub.edu::21a300d2-39b3-4b94-a8d2-b286a458fe73" providerId="AD" clId="Web-{132D7650-E18E-CA8A-336E-71ACCBCFAA46}" dt="2026-02-22T07:10:21.580" v="4" actId="20577"/>
          <ac:spMkLst>
            <pc:docMk/>
            <pc:sldMk cId="3382580844" sldId="286"/>
            <ac:spMk id="2" creationId="{93B91CDD-3219-90CC-0C9F-5875AD4528D8}"/>
          </ac:spMkLst>
        </pc:spChg>
        <pc:spChg chg="mod">
          <ac:chgData name="MD. HAMID UDDIN" userId="S::hamid.uddin@aiub.edu::21a300d2-39b3-4b94-a8d2-b286a458fe73" providerId="AD" clId="Web-{132D7650-E18E-CA8A-336E-71ACCBCFAA46}" dt="2026-02-22T07:20:52.577" v="33" actId="20577"/>
          <ac:spMkLst>
            <pc:docMk/>
            <pc:sldMk cId="3382580844" sldId="286"/>
            <ac:spMk id="8" creationId="{2DB634BF-7525-E80C-9A20-FBED986C77E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2AB4DD-911D-41E3-A028-2B7F77AC5F25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C843EE-774D-47BE-A3FF-293D0A429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650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C843EE-774D-47BE-A3FF-293D0A429F5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048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/js_numbers.asp" TargetMode="Externa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/js_string_methods.asp" TargetMode="Externa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/js_arithmetic.asp" TargetMode="Externa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ringboard.com/blog/history-of-javascript/" TargetMode="External"/><Relationship Id="rId2" Type="http://schemas.openxmlformats.org/officeDocument/2006/relationships/hyperlink" Target="https://www.w3schools.com/js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JavaScript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3222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957427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Summer 19-20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459824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Introduction to JavaScript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Usage of JavaScript and How to Use JavaScript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Variables and Data Types</a:t>
            </a:r>
          </a:p>
          <a:p>
            <a:pPr marL="342900" indent="-342900">
              <a:buFont typeface="Wingdings" pitchFamily="2" charset="2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Syntax, Output, Statements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Operators and Arithmetic operations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Events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Functions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Control flow (If else, loops)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endParaRPr lang="en-US" sz="2400" u="sng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JavaScript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1" y="2134056"/>
            <a:ext cx="767664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JavaScript is a client side programming language which was designed to add</a:t>
            </a:r>
          </a:p>
          <a:p>
            <a:r>
              <a:rPr lang="en-US" dirty="0"/>
              <a:t>Interactivity to static HTML pages.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is a scripting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scripting language is lightweight programming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is interpreted not compiled (means that script execute without preliminary compilation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is also known as ECMASCRIPT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ECMAScript is the official standard and blueprint that defines how JavaScript should work.</a:t>
            </a:r>
            <a:r>
              <a:rPr lang="en-US" dirty="0"/>
              <a:t> Think of ECMAScript as the rulebook or architectural design, while </a:t>
            </a:r>
            <a:r>
              <a:rPr lang="en-US" b="1" dirty="0"/>
              <a:t>JavaScript is the actual, practical implementation</a:t>
            </a:r>
            <a:r>
              <a:rPr lang="en-US" dirty="0"/>
              <a:t> of those rules that runs in your web browser.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Developed by </a:t>
            </a:r>
            <a:r>
              <a:rPr lang="en-US" b="1" i="1" dirty="0"/>
              <a:t>Brandan </a:t>
            </a:r>
            <a:r>
              <a:rPr lang="en-US" b="1" i="1" dirty="0" err="1"/>
              <a:t>Eich</a:t>
            </a:r>
            <a:r>
              <a:rPr lang="en-US" b="1" i="1" dirty="0"/>
              <a:t> </a:t>
            </a:r>
            <a:r>
              <a:rPr lang="en-US" dirty="0"/>
              <a:t>in September 1995.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JavaScript and Java have almost nothing in common.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Usage of JavaScript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2" y="2435897"/>
            <a:ext cx="768552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Great thing about JavaScript is that you will find tons of frameworks and Libraries already developed which can be used.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JavaScript usage has now extended to mobile app development, desktop app development, and game development.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Application of JavaScript is also very easy as it is pre installed in every modern web browsers.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Once you learn about JS it can help you in front-end development as well as back-end development.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Where and How to Use JS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Where to Use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1" y="2435897"/>
            <a:ext cx="793160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HTML JavaScript code can be inserted in between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&lt;script&gt;&lt;/script&gt;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dirty="0"/>
              <a:t>tags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	Some JS Codes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&lt;/script&gt;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some old examples you may see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 type=</a:t>
            </a:r>
            <a:r>
              <a:rPr lang="en-US" dirty="0"/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"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text/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javascript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"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&gt;&lt;/script&gt;. </a:t>
            </a:r>
            <a:r>
              <a:rPr lang="en-US" dirty="0"/>
              <a:t>Where type is not required as JavaScript is the default scripting language ins HTML.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Scripts can be placed in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  <a:r>
              <a:rPr lang="en-US" dirty="0"/>
              <a:t>, or in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 </a:t>
            </a:r>
            <a:r>
              <a:rPr lang="en-US" dirty="0"/>
              <a:t>section of an HTML page, or in both.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Placing scripts at the bottom of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 </a:t>
            </a:r>
            <a:r>
              <a:rPr lang="en-US" dirty="0"/>
              <a:t>element improves the display speed, because script interpretation slows down the display.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844210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Where and How to Use JS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Where to Use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2" y="2435897"/>
            <a:ext cx="7808976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can also be placed in external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Its better to put JavaScript codes in an external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place any number of scripts in an HTML document.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script files are also useful when same code is used in many different web pages.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files must have the extension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.</a:t>
            </a:r>
            <a:r>
              <a:rPr lang="en-US" b="1" dirty="0" err="1">
                <a:solidFill>
                  <a:schemeClr val="bg2">
                    <a:lumMod val="50000"/>
                  </a:schemeClr>
                </a:solidFill>
              </a:rPr>
              <a:t>js</a:t>
            </a:r>
            <a:endParaRPr lang="en-US" b="1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use external </a:t>
            </a:r>
            <a:r>
              <a:rPr lang="en-US" dirty="0" err="1"/>
              <a:t>js</a:t>
            </a:r>
            <a:r>
              <a:rPr lang="en-US" dirty="0"/>
              <a:t> file you need to add a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/>
              <a:t>attribute in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 </a:t>
            </a:r>
            <a:r>
              <a:rPr lang="en-US" dirty="0"/>
              <a:t>tag. Where the value of </a:t>
            </a:r>
            <a:r>
              <a:rPr lang="en-US" dirty="0" err="1"/>
              <a:t>src</a:t>
            </a:r>
            <a:r>
              <a:rPr lang="en-US" dirty="0"/>
              <a:t> will be the path of the external JS file.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 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="myScript.js"&gt;&lt;/script&gt;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external file can be added both in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 </a:t>
            </a:r>
            <a:r>
              <a:rPr lang="en-US" dirty="0"/>
              <a:t>and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 </a:t>
            </a:r>
            <a:r>
              <a:rPr lang="en-US" dirty="0"/>
              <a:t>section.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will behave as if the codes are located in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 </a:t>
            </a:r>
            <a:r>
              <a:rPr lang="en-US" dirty="0"/>
              <a:t>tag.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Remember external scripts cannot contain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 </a:t>
            </a:r>
            <a:r>
              <a:rPr lang="en-US" b="1" dirty="0">
                <a:solidFill>
                  <a:srgbClr val="FF0000"/>
                </a:solidFill>
              </a:rPr>
              <a:t>tag only the JS codes.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083068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Benefits of External JS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445550" y="1224576"/>
            <a:ext cx="820130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separates the HTML and JavaScript so increased modularity.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Many HTML pages can use same codes so increased reusability.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Modification of code is easier so increased maintainability.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Modern browsers cached JS files so speed up the page loads.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JS files residing in another server can also be used.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Note: As browsers cached up the external JS files to speed up the execution you need to clear cache (ctrl +f5) of the page to reflect the change during development.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823762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How to use JS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445550" y="1224576"/>
            <a:ext cx="3593790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in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&lt;h1&gt;A Web Page&lt;/h1&gt;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in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&lt;h1&gt;A Web Page&lt;/h1&gt;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  <a:p>
            <a:pPr lvl="1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2DDA5F-E7A5-4CFE-90A4-77CD95121D9C}"/>
              </a:ext>
            </a:extLst>
          </p:cNvPr>
          <p:cNvSpPr txBox="1"/>
          <p:nvPr/>
        </p:nvSpPr>
        <p:spPr>
          <a:xfrm>
            <a:off x="3426781" y="1269050"/>
            <a:ext cx="548639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JavaScript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 also be put in both head and body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="myScript.js"&gt;&lt;/script&gt;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&lt;h1&gt;A Web Page&lt;/h1&gt;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JavaScript residing in another server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Put the URL of the file 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="https://www.w3schools.com/js/myScript1.js"&gt;&lt;/script&gt;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&lt;h1&gt;A Web Page&lt;/h1&gt;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  <a:p>
            <a:pPr lvl="1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437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Variables and Data Types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JS Variables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1" y="2297786"/>
            <a:ext cx="7907467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is a loosely typed language.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Loosely typed means the variable is not bound to store a specific type of data like strongly typed languages.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If x is a variable it can hold 10 (integer) and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"ten" (string).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Creating variable in JavaScript is called declaring a variable.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JavaScript variables are can be declared using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dirty="0"/>
              <a:t> keyword. You can also create variable without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Declared variable has the default value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undefined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Like other languages variable value can be assigned at the time of declaration using (=) assignment operator.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CCBF9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4394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 Variable Naming Rules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2DDA5F-E7A5-4CFE-90A4-77CD95121D9C}"/>
              </a:ext>
            </a:extLst>
          </p:cNvPr>
          <p:cNvSpPr txBox="1"/>
          <p:nvPr/>
        </p:nvSpPr>
        <p:spPr>
          <a:xfrm>
            <a:off x="335494" y="1295683"/>
            <a:ext cx="81249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All variables in a must be identified by a unique name.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These unique names can be called as variables or identifiers.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Variables can be declared with or without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keyword.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name="AIUB";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number=10;</a:t>
            </a:r>
          </a:p>
          <a:p>
            <a:pPr lvl="2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Name can contain letters, di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gits,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underscore(_)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and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dollar($)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sign.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Name must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begin with a letter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or underscore or dollar sign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Name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s are case sensitive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Reserved keyword can not be used as a variable name.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Variable values can be initialized with = operator.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String values are written with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double quotation (</a:t>
            </a:r>
            <a:r>
              <a:rPr lang="en-US" dirty="0"/>
              <a:t>"") or single quotation (').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Numbers are written without quotation.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Re-declaration of variable will not loss the value.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name="AIUB";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name; 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//This will not lose the value of name. In next instructions     	  //value of name will remain "AIUB";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name="AIUB";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 ="BUET";  </a:t>
            </a:r>
          </a:p>
          <a:p>
            <a:pPr lvl="2"/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What Will Happen?</a:t>
            </a:r>
          </a:p>
          <a:p>
            <a:pPr lvl="2"/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6121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 Data Types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35B03F-0B1D-4C28-84A0-3BD1E1B38C3A}"/>
              </a:ext>
            </a:extLst>
          </p:cNvPr>
          <p:cNvSpPr txBox="1"/>
          <p:nvPr/>
        </p:nvSpPr>
        <p:spPr>
          <a:xfrm>
            <a:off x="335494" y="1295683"/>
            <a:ext cx="812492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 discussed earlier </a:t>
            </a:r>
            <a:r>
              <a:rPr lang="en-US" dirty="0">
                <a:solidFill>
                  <a:prstClr val="black"/>
                </a:solidFill>
              </a:rPr>
              <a:t>JavaScript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a loosely typed language, this can hold many data types.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has </a:t>
            </a:r>
            <a:r>
              <a:rPr lang="en-US" b="1" dirty="0">
                <a:solidFill>
                  <a:srgbClr val="026E05"/>
                </a:solidFill>
                <a:latin typeface="Calibri"/>
              </a:rPr>
              <a:t>4 primitive data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types and </a:t>
            </a:r>
            <a:r>
              <a:rPr lang="en-US" b="1" dirty="0">
                <a:solidFill>
                  <a:srgbClr val="7030A0"/>
                </a:solidFill>
                <a:latin typeface="Calibri"/>
              </a:rPr>
              <a:t>2 complex data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type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Boolean (Can have only 2 values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true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 or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false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26E05"/>
                </a:solidFill>
                <a:latin typeface="Consolas" panose="020B0609020204030204" pitchFamily="49" charset="0"/>
              </a:rPr>
              <a:t>Number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String</a:t>
            </a:r>
            <a:endParaRPr lang="en-US" sz="1400" dirty="0">
              <a:solidFill>
                <a:srgbClr val="026E05"/>
              </a:solidFill>
              <a:latin typeface="Consolas" panose="020B0609020204030204" pitchFamily="49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Undefined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7030A0"/>
                </a:solidFill>
                <a:latin typeface="Consolas" panose="020B0609020204030204" pitchFamily="49" charset="0"/>
              </a:rPr>
              <a:t>Object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</a:rPr>
              <a:t>Function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Script has dynamic types.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x;           // Now x is undefined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x = 5;           // Now x is a Number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x = "John";      // Now x is a String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typeof</a:t>
            </a:r>
            <a:r>
              <a:rPr lang="en-US" dirty="0">
                <a:solidFill>
                  <a:prstClr val="black"/>
                </a:solidFill>
              </a:rPr>
              <a:t> keyword returns the type of a variable.</a:t>
            </a:r>
          </a:p>
          <a:p>
            <a:pPr lvl="1"/>
            <a:endParaRPr lang="en-US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1346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Type Number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has only one type of number that is float.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numbers can be written with or without decimals.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 3.14;    // A number with decimals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y = 3;       // A number without decimals</a:t>
            </a:r>
            <a:endParaRPr lang="en-US" sz="1400" dirty="0">
              <a:solidFill>
                <a:prstClr val="black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numbers are always stored as 64-bit floating point.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Integers (numbers without a period or exponent notation) are accurate up to 15 digits.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The maximum number of decimals is 17, but floating point arithmetic is not always 100% accurate.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 0.2 + 0.1;         // x will be 0.30000000000000004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This can be solved by multiply and divide.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 (0.2 * 10 + 0.1 * 10) / 10;       // x will be 0.3</a:t>
            </a:r>
            <a:endParaRPr lang="en-US" dirty="0">
              <a:solidFill>
                <a:prstClr val="black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prstClr val="black"/>
                </a:solidFill>
              </a:rPr>
              <a:t>NaN</a:t>
            </a:r>
            <a:r>
              <a:rPr lang="en-US" dirty="0">
                <a:solidFill>
                  <a:prstClr val="black"/>
                </a:solidFill>
              </a:rPr>
              <a:t> is a JavaScript reserved word indicating that a number is not a legal number. Trying to do arithmetic with a non-numeric string will result in </a:t>
            </a:r>
            <a:r>
              <a:rPr lang="en-US" dirty="0" err="1">
                <a:solidFill>
                  <a:prstClr val="black"/>
                </a:solidFill>
              </a:rPr>
              <a:t>NaN</a:t>
            </a:r>
            <a:r>
              <a:rPr lang="en-US" dirty="0">
                <a:solidFill>
                  <a:prstClr val="black"/>
                </a:solidFill>
              </a:rPr>
              <a:t> (Not a Number)</a:t>
            </a:r>
          </a:p>
          <a:p>
            <a:pPr lvl="1"/>
            <a:endParaRPr lang="en-US" dirty="0">
              <a:solidFill>
                <a:prstClr val="black"/>
              </a:solidFill>
              <a:latin typeface="Calibri"/>
            </a:endParaRPr>
          </a:p>
          <a:p>
            <a:pPr lvl="1"/>
            <a:r>
              <a:rPr lang="en-US" b="1" dirty="0">
                <a:solidFill>
                  <a:srgbClr val="002060"/>
                </a:solidFill>
                <a:latin typeface="Calibri"/>
              </a:rPr>
              <a:t>Must Read: </a:t>
            </a:r>
            <a:r>
              <a:rPr lang="en-US" dirty="0">
                <a:hlinkClick r:id="rId2"/>
              </a:rPr>
              <a:t>https://www.w3schools.com/js/js_numbers.asp</a:t>
            </a:r>
            <a:endParaRPr lang="en-US" dirty="0">
              <a:solidFill>
                <a:prstClr val="black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latin typeface="Calibri"/>
            </a:endParaRPr>
          </a:p>
          <a:p>
            <a:pPr lvl="1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919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Type String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Strings are used for storing texts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Strings can be written with single and double quotation.</a:t>
            </a:r>
          </a:p>
          <a:p>
            <a:pPr lvl="2"/>
            <a: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carName1 = "Volvo";  // Double quotes</a:t>
            </a:r>
            <a:b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carName2 = 'Volvo';  // Single quotes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To write string with quotations like  </a:t>
            </a:r>
            <a:r>
              <a:rPr lang="en-US" i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My name is ‘Jon’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you can write as below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"My name is 'Jon'";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In other case of My name is </a:t>
            </a:r>
            <a:r>
              <a:rPr lang="en-US" i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My name is “Jon” </a:t>
            </a:r>
            <a:r>
              <a:rPr lang="en-US" dirty="0">
                <a:latin typeface="Calibri"/>
              </a:rPr>
              <a:t> you can do as follows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'My name is "Jon"';</a:t>
            </a:r>
            <a:endParaRPr lang="en-US" dirty="0"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By default string acts an object. So it has some properties and methods by default.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(.) dot operator is used to access its properties and methods.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Length of the string can be get by length property.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txt = "ABCDEFGHIJKLMNOPQRSTUVWXYZ";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sln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txt.length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endParaRPr lang="en-US" dirty="0"/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Must Read: </a:t>
            </a:r>
            <a:r>
              <a:rPr lang="en-US" dirty="0">
                <a:hlinkClick r:id="rId2"/>
              </a:rPr>
              <a:t>https://www.w3schools.com/js/js_string_methods.asp</a:t>
            </a:r>
            <a:endParaRPr lang="en-US" dirty="0">
              <a:solidFill>
                <a:prstClr val="black"/>
              </a:solidFill>
            </a:endParaRPr>
          </a:p>
          <a:p>
            <a:pPr lvl="1"/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176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Type NULL VS Undefined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Both of them means nothing.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Both of them are same in terms of value but different in type.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When a variable in JavaScript is declared its value is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undefined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Null value must be assigned programmatically otherwise its undefined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a = null; //this one is null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b; //this one is undefined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You can also explicitly set a variable to equal undefined.</a:t>
            </a:r>
          </a:p>
          <a:p>
            <a:pPr lvl="1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4597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Syntax, Output, Statements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JS Syntax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1" y="2297786"/>
            <a:ext cx="7907467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Fixed values are called literals and others are called variables.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Sum = x + y * 8        Literals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lvl="0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                        Variables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 instruction is called a statement. Each statement is ended with a semi colon.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10.5;  //this a statement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10.4; var y = 7; // 2 statements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</a:rPr>
              <a:t>JavaScript ignores multiple spaces. You can add white space to your script to make it more readable.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person = "Hege";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person="Hege";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//both are same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An expression is a combination of values, variables, and operators, which computes to a value.</a:t>
            </a:r>
          </a:p>
          <a:p>
            <a:pPr lvl="1" indent="-28575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Sum = x + y * 8 //expression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CCBF9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234835-A65E-4109-A457-B284485D66AC}"/>
              </a:ext>
            </a:extLst>
          </p:cNvPr>
          <p:cNvCxnSpPr>
            <a:cxnSpLocks/>
          </p:cNvCxnSpPr>
          <p:nvPr/>
        </p:nvCxnSpPr>
        <p:spPr>
          <a:xfrm>
            <a:off x="1864311" y="2840854"/>
            <a:ext cx="0" cy="1000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CCF4BFA-5E11-4A71-A578-5906ADCC2D70}"/>
              </a:ext>
            </a:extLst>
          </p:cNvPr>
          <p:cNvCxnSpPr/>
          <p:nvPr/>
        </p:nvCxnSpPr>
        <p:spPr>
          <a:xfrm>
            <a:off x="1864311" y="2940913"/>
            <a:ext cx="18820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1CAD43B-0CD5-4412-96E2-D776D21D96F5}"/>
              </a:ext>
            </a:extLst>
          </p:cNvPr>
          <p:cNvCxnSpPr>
            <a:cxnSpLocks/>
          </p:cNvCxnSpPr>
          <p:nvPr/>
        </p:nvCxnSpPr>
        <p:spPr>
          <a:xfrm>
            <a:off x="2293860" y="2840854"/>
            <a:ext cx="0" cy="1000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686BFD1-6160-4351-9738-E12BA8B4BF06}"/>
              </a:ext>
            </a:extLst>
          </p:cNvPr>
          <p:cNvCxnSpPr>
            <a:cxnSpLocks/>
          </p:cNvCxnSpPr>
          <p:nvPr/>
        </p:nvCxnSpPr>
        <p:spPr>
          <a:xfrm>
            <a:off x="2639011" y="2840854"/>
            <a:ext cx="0" cy="1000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38F1AB7-0C74-4E73-B496-5B12A13F2916}"/>
              </a:ext>
            </a:extLst>
          </p:cNvPr>
          <p:cNvCxnSpPr>
            <a:cxnSpLocks/>
          </p:cNvCxnSpPr>
          <p:nvPr/>
        </p:nvCxnSpPr>
        <p:spPr>
          <a:xfrm>
            <a:off x="3109913" y="2753588"/>
            <a:ext cx="757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945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Syntax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Comments are those line of codes which are not interpreted by the interpreter.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JavaScript the comments are of 2 types.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Single line</a:t>
            </a:r>
          </a:p>
          <a:p>
            <a:pPr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10;</a:t>
            </a:r>
          </a:p>
          <a:p>
            <a:pPr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//var y = 12;         Single line comment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Multi line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z = 12;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/*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this lines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Will not be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Executed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*/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We will be learning more about syntaxes day by day.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EA6C96B-0ED9-4D7F-A7BF-50C3D5E8C311}"/>
              </a:ext>
            </a:extLst>
          </p:cNvPr>
          <p:cNvCxnSpPr>
            <a:cxnSpLocks/>
          </p:cNvCxnSpPr>
          <p:nvPr/>
        </p:nvCxnSpPr>
        <p:spPr>
          <a:xfrm>
            <a:off x="3109913" y="2753588"/>
            <a:ext cx="757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8848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 can display values in 4 different ways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Into HTML element (inside tags)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HTML Document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In alert box (Like a pop up message)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console (usually for developers)</a:t>
            </a:r>
          </a:p>
          <a:p>
            <a:pPr lvl="1"/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975603-5AF4-42FB-AB94-6E854E591DAB}"/>
              </a:ext>
            </a:extLst>
          </p:cNvPr>
          <p:cNvSpPr txBox="1"/>
          <p:nvPr/>
        </p:nvSpPr>
        <p:spPr>
          <a:xfrm>
            <a:off x="335494" y="2930829"/>
            <a:ext cx="812492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We are about to write our first program using JavaScript. Some points to remember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Each HTML element should be uniquely identified by a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or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We will use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attribute to use JavaScript.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can also be used.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 operates with a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document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object which works in a object oriented way.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There are some built in functions and attributes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object we will use them.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lvl="2"/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5464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 [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InnerHTML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24576"/>
            <a:ext cx="812492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1. &lt;html&gt;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2.     &lt;body&gt;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3.        &lt;h1&gt;My First Web Page&lt;/h1&gt;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4.          &lt;p&gt;My First Paragraph&lt;/p&gt;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5.          &lt;p id="demo"&gt;&lt;/p&gt;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6.    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7.	          var para1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8.             para1.innerHTML = "Hello World";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9.    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10.      &lt;/body&gt;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11. &lt;/html&gt;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95387B-D6FE-4CF5-BA47-E635AD9ED6EB}"/>
              </a:ext>
            </a:extLst>
          </p:cNvPr>
          <p:cNvSpPr txBox="1"/>
          <p:nvPr/>
        </p:nvSpPr>
        <p:spPr>
          <a:xfrm>
            <a:off x="6691738" y="1615159"/>
            <a:ext cx="21167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the code: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Web Page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Paragraph.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World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E8AB3B-9F5A-486F-AF8E-CA2EC86F0D01}"/>
              </a:ext>
            </a:extLst>
          </p:cNvPr>
          <p:cNvSpPr txBox="1"/>
          <p:nvPr/>
        </p:nvSpPr>
        <p:spPr>
          <a:xfrm>
            <a:off x="335493" y="3686789"/>
            <a:ext cx="81249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Lets observe the code. </a:t>
            </a:r>
            <a:r>
              <a:rPr lang="en-US" b="1" dirty="0">
                <a:cs typeface="Times New Roman" panose="02020603050405020304" pitchFamily="18" charset="0"/>
              </a:rPr>
              <a:t>In line 5 </a:t>
            </a:r>
            <a:r>
              <a:rPr lang="en-US" dirty="0">
                <a:cs typeface="Times New Roman" panose="02020603050405020304" pitchFamily="18" charset="0"/>
              </a:rPr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&lt;p&gt;</a:t>
            </a:r>
            <a:r>
              <a:rPr lang="en-US" dirty="0">
                <a:cs typeface="Times New Roman" panose="02020603050405020304" pitchFamily="18" charset="0"/>
              </a:rPr>
              <a:t> tag has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id</a:t>
            </a:r>
            <a:r>
              <a:rPr lang="en-US" dirty="0">
                <a:cs typeface="Times New Roman" panose="02020603050405020304" pitchFamily="18" charset="0"/>
              </a:rPr>
              <a:t> attribute. The value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id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b="1" dirty="0">
                <a:cs typeface="Times New Roman" panose="02020603050405020304" pitchFamily="18" charset="0"/>
              </a:rPr>
              <a:t>attribute must be unique </a:t>
            </a:r>
            <a:r>
              <a:rPr lang="en-US" dirty="0">
                <a:cs typeface="Times New Roman" panose="02020603050405020304" pitchFamily="18" charset="0"/>
              </a:rPr>
              <a:t>in a web page.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Now to uniquely identify a particular HTML element JavaScript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document</a:t>
            </a:r>
            <a:r>
              <a:rPr lang="en-US" dirty="0">
                <a:cs typeface="Times New Roman" panose="02020603050405020304" pitchFamily="18" charset="0"/>
              </a:rPr>
              <a:t> object has a predefined method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()</a:t>
            </a:r>
            <a:r>
              <a:rPr lang="en-US" dirty="0">
                <a:cs typeface="Times New Roman" panose="02020603050405020304" pitchFamily="18" charset="0"/>
              </a:rPr>
              <a:t> which receives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id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b="1" dirty="0">
                <a:cs typeface="Times New Roman" panose="02020603050405020304" pitchFamily="18" charset="0"/>
              </a:rPr>
              <a:t>value as a parameter</a:t>
            </a:r>
            <a:r>
              <a:rPr lang="en-US" dirty="0"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cs typeface="Times New Roman" panose="02020603050405020304" pitchFamily="18" charset="0"/>
              </a:rPr>
              <a:t>This method returns the HTML element as a object</a:t>
            </a:r>
            <a:r>
              <a:rPr lang="en-US" dirty="0"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cs typeface="Times New Roman" panose="02020603050405020304" pitchFamily="18" charset="0"/>
              </a:rPr>
              <a:t>In line 7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para1</a:t>
            </a:r>
            <a:r>
              <a:rPr lang="en-US" dirty="0">
                <a:cs typeface="Times New Roman" panose="02020603050405020304" pitchFamily="18" charset="0"/>
              </a:rPr>
              <a:t> variable holds the reference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&lt;p&gt;</a:t>
            </a:r>
            <a:r>
              <a:rPr lang="en-US" dirty="0">
                <a:cs typeface="Times New Roman" panose="02020603050405020304" pitchFamily="18" charset="0"/>
              </a:rPr>
              <a:t> element as a object.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innerHTML</a:t>
            </a:r>
            <a:r>
              <a:rPr lang="en-US" dirty="0">
                <a:cs typeface="Times New Roman" panose="02020603050405020304" pitchFamily="18" charset="0"/>
              </a:rPr>
              <a:t> is an attribute of HTML element </a:t>
            </a:r>
            <a:r>
              <a:rPr lang="en-US" b="1" dirty="0">
                <a:cs typeface="Times New Roman" panose="02020603050405020304" pitchFamily="18" charset="0"/>
              </a:rPr>
              <a:t>which has starting and closing tag</a:t>
            </a:r>
            <a:r>
              <a:rPr lang="en-US" dirty="0"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There are others attributes of document object we will be covering in further topics.</a:t>
            </a:r>
          </a:p>
        </p:txBody>
      </p:sp>
    </p:spTree>
    <p:extLst>
      <p:ext uri="{BB962C8B-B14F-4D97-AF65-F5344CB8AC3E}">
        <p14:creationId xmlns:p14="http://schemas.microsoft.com/office/powerpoint/2010/main" val="810716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 [document]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24576"/>
            <a:ext cx="81249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1. &lt;html&gt;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2.     &lt;body&gt;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3.        &lt;h1&gt;My First Web Page&lt;/h1&gt;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4.          &lt;p&gt;My First Paragraph&lt;/p&gt;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5.    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6.	         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document.write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("Hello World");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7.    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8.      &lt;/body&gt;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9. &lt;/html&gt;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95387B-D6FE-4CF5-BA47-E635AD9ED6EB}"/>
              </a:ext>
            </a:extLst>
          </p:cNvPr>
          <p:cNvSpPr txBox="1"/>
          <p:nvPr/>
        </p:nvSpPr>
        <p:spPr>
          <a:xfrm>
            <a:off x="6691738" y="1615159"/>
            <a:ext cx="21167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the code: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Web Page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Paragraph.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World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E8AB3B-9F5A-486F-AF8E-CA2EC86F0D01}"/>
              </a:ext>
            </a:extLst>
          </p:cNvPr>
          <p:cNvSpPr txBox="1"/>
          <p:nvPr/>
        </p:nvSpPr>
        <p:spPr>
          <a:xfrm>
            <a:off x="335493" y="3191489"/>
            <a:ext cx="812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Lets observe </a:t>
            </a:r>
            <a:r>
              <a:rPr lang="en-US" b="1" dirty="0">
                <a:cs typeface="Times New Roman" panose="02020603050405020304" pitchFamily="18" charset="0"/>
              </a:rPr>
              <a:t>line 6</a:t>
            </a:r>
            <a:r>
              <a:rPr lang="en-US" dirty="0">
                <a:cs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document</a:t>
            </a:r>
            <a:r>
              <a:rPr lang="en-US" dirty="0">
                <a:cs typeface="Times New Roman" panose="02020603050405020304" pitchFamily="18" charset="0"/>
              </a:rPr>
              <a:t> object has a method named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write() </a:t>
            </a:r>
            <a:r>
              <a:rPr lang="en-US" dirty="0">
                <a:cs typeface="Times New Roman" panose="02020603050405020304" pitchFamily="18" charset="0"/>
              </a:rPr>
              <a:t>which writes directly in the HTML page. Where ever you put the script it will execute there.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DFF7FDD-8075-45C2-9131-11EDCF1DEEA6}"/>
              </a:ext>
            </a:extLst>
          </p:cNvPr>
          <p:cNvSpPr txBox="1">
            <a:spLocks/>
          </p:cNvSpPr>
          <p:nvPr/>
        </p:nvSpPr>
        <p:spPr>
          <a:xfrm>
            <a:off x="335494" y="3769637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 [alert]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BA0E6B-023A-478C-8B62-600EC029828C}"/>
              </a:ext>
            </a:extLst>
          </p:cNvPr>
          <p:cNvSpPr txBox="1"/>
          <p:nvPr/>
        </p:nvSpPr>
        <p:spPr>
          <a:xfrm>
            <a:off x="335494" y="4244001"/>
            <a:ext cx="81249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1. &lt;html&gt;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2.     &lt;body&gt;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3.        &lt;h1&gt;My First Web Page&lt;/h1&gt;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4.          &lt;p&gt;My First Paragraph&lt;/p&gt;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5.    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6.	          alert("Hello World");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7.    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8.      &lt;/body&gt;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9. &lt;/html&gt;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E147B6-3D79-4031-9345-523075261168}"/>
              </a:ext>
            </a:extLst>
          </p:cNvPr>
          <p:cNvSpPr txBox="1"/>
          <p:nvPr/>
        </p:nvSpPr>
        <p:spPr>
          <a:xfrm>
            <a:off x="5299581" y="4484566"/>
            <a:ext cx="2116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the code: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85B19E-086F-417D-8C48-6838E2200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9581" y="4776787"/>
            <a:ext cx="3508925" cy="1498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924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 [console]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5" y="1224576"/>
            <a:ext cx="47508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1. &lt;html&gt;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2.     &lt;body&gt;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3.        &lt;h1&gt;My First Web Page&lt;/h1&gt;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4.        &lt;p&gt;My First Paragraph&lt;/p&gt;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5.  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6.	        console.log("Hello World");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7.  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8.      &lt;/body&gt;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9. &lt;/html&gt;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E8AB3B-9F5A-486F-AF8E-CA2EC86F0D01}"/>
              </a:ext>
            </a:extLst>
          </p:cNvPr>
          <p:cNvSpPr txBox="1"/>
          <p:nvPr/>
        </p:nvSpPr>
        <p:spPr>
          <a:xfrm>
            <a:off x="335494" y="3191489"/>
            <a:ext cx="46270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Lets observe </a:t>
            </a:r>
            <a:r>
              <a:rPr lang="en-US" b="1" dirty="0">
                <a:cs typeface="Times New Roman" panose="02020603050405020304" pitchFamily="18" charset="0"/>
              </a:rPr>
              <a:t>line 6</a:t>
            </a:r>
            <a:r>
              <a:rPr lang="en-US" dirty="0">
                <a:cs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console.log() </a:t>
            </a:r>
            <a:r>
              <a:rPr lang="en-US" dirty="0">
                <a:cs typeface="Times New Roman" panose="02020603050405020304" pitchFamily="18" charset="0"/>
              </a:rPr>
              <a:t>function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dirty="0">
                <a:cs typeface="Times New Roman" panose="02020603050405020304" pitchFamily="18" charset="0"/>
              </a:rPr>
              <a:t>which writes directly developer console.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Right click on the HTML page </a:t>
            </a: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inspect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B6B648-7D80-4864-9E56-975BE3B11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789" y="1600021"/>
            <a:ext cx="4118625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200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555541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dirty="0"/>
              <a:t>JS Operators and Arithmetic operations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Operators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187701" y="2027587"/>
            <a:ext cx="2093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Arithmetic Operator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CF001FE-B8A2-4737-B57F-5C8B2BB108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033822"/>
              </p:ext>
            </p:extLst>
          </p:nvPr>
        </p:nvGraphicFramePr>
        <p:xfrm>
          <a:off x="280896" y="2357912"/>
          <a:ext cx="3252417" cy="3211191"/>
        </p:xfrm>
        <a:graphic>
          <a:graphicData uri="http://schemas.openxmlformats.org/drawingml/2006/table">
            <a:tbl>
              <a:tblPr/>
              <a:tblGrid>
                <a:gridCol w="855445">
                  <a:extLst>
                    <a:ext uri="{9D8B030D-6E8A-4147-A177-3AD203B41FA5}">
                      <a16:colId xmlns:a16="http://schemas.microsoft.com/office/drawing/2014/main" val="3073652656"/>
                    </a:ext>
                  </a:extLst>
                </a:gridCol>
                <a:gridCol w="2396972">
                  <a:extLst>
                    <a:ext uri="{9D8B030D-6E8A-4147-A177-3AD203B41FA5}">
                      <a16:colId xmlns:a16="http://schemas.microsoft.com/office/drawing/2014/main" val="2345113467"/>
                    </a:ext>
                  </a:extLst>
                </a:gridCol>
              </a:tblGrid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Operator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378570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+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Addition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827111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-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Subtraction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169649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*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Multiplication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354427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**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Exponentiation 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184728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/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Division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610728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%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Modulus (Division Remainder)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688324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++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Increment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947596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--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Decrement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63964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AF75BE7-B23D-47D3-8D98-8CB6E4E50B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633631"/>
              </p:ext>
            </p:extLst>
          </p:nvPr>
        </p:nvGraphicFramePr>
        <p:xfrm>
          <a:off x="3626507" y="2356950"/>
          <a:ext cx="5231741" cy="2673648"/>
        </p:xfrm>
        <a:graphic>
          <a:graphicData uri="http://schemas.openxmlformats.org/drawingml/2006/table">
            <a:tbl>
              <a:tblPr/>
              <a:tblGrid>
                <a:gridCol w="1306539">
                  <a:extLst>
                    <a:ext uri="{9D8B030D-6E8A-4147-A177-3AD203B41FA5}">
                      <a16:colId xmlns:a16="http://schemas.microsoft.com/office/drawing/2014/main" val="913478261"/>
                    </a:ext>
                  </a:extLst>
                </a:gridCol>
                <a:gridCol w="1962601">
                  <a:extLst>
                    <a:ext uri="{9D8B030D-6E8A-4147-A177-3AD203B41FA5}">
                      <a16:colId xmlns:a16="http://schemas.microsoft.com/office/drawing/2014/main" val="1070874083"/>
                    </a:ext>
                  </a:extLst>
                </a:gridCol>
                <a:gridCol w="1962601">
                  <a:extLst>
                    <a:ext uri="{9D8B030D-6E8A-4147-A177-3AD203B41FA5}">
                      <a16:colId xmlns:a16="http://schemas.microsoft.com/office/drawing/2014/main" val="1805172922"/>
                    </a:ext>
                  </a:extLst>
                </a:gridCol>
              </a:tblGrid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Operator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Example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Same As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206326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794030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+=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+=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+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584418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-=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-=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-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673274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*=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*=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*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237054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/=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/=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/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788210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%=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%=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%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427114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**=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**=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x = x **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67723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3013F05-F913-4405-A3CC-827BFF4D48C3}"/>
              </a:ext>
            </a:extLst>
          </p:cNvPr>
          <p:cNvSpPr txBox="1"/>
          <p:nvPr/>
        </p:nvSpPr>
        <p:spPr>
          <a:xfrm>
            <a:off x="3533312" y="2029441"/>
            <a:ext cx="2503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Assignment Operator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6B8F51-DF9A-4503-8366-483607CCDC68}"/>
              </a:ext>
            </a:extLst>
          </p:cNvPr>
          <p:cNvSpPr txBox="1"/>
          <p:nvPr/>
        </p:nvSpPr>
        <p:spPr>
          <a:xfrm>
            <a:off x="3533313" y="5092743"/>
            <a:ext cx="56106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7030A0"/>
                </a:solidFill>
              </a:rPr>
              <a:t>The + operator can also be used to add (concatenate) strings.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7030A0"/>
                </a:solidFill>
              </a:rPr>
              <a:t>The += assignment operator can also be used to add (concatenate) strings.</a:t>
            </a:r>
          </a:p>
        </p:txBody>
      </p:sp>
    </p:spTree>
    <p:extLst>
      <p:ext uri="{BB962C8B-B14F-4D97-AF65-F5344CB8AC3E}">
        <p14:creationId xmlns:p14="http://schemas.microsoft.com/office/powerpoint/2010/main" val="3532267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Operators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2AF1D3-2EF0-4535-A9D7-6A1486E0010F}"/>
              </a:ext>
            </a:extLst>
          </p:cNvPr>
          <p:cNvSpPr txBox="1"/>
          <p:nvPr/>
        </p:nvSpPr>
        <p:spPr>
          <a:xfrm>
            <a:off x="335493" y="1201421"/>
            <a:ext cx="232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Comparison Operator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7CEC25-C2E7-4317-B8F7-6C1547EF7F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136904"/>
              </p:ext>
            </p:extLst>
          </p:nvPr>
        </p:nvGraphicFramePr>
        <p:xfrm>
          <a:off x="476158" y="1570753"/>
          <a:ext cx="3412262" cy="3395824"/>
        </p:xfrm>
        <a:graphic>
          <a:graphicData uri="http://schemas.openxmlformats.org/drawingml/2006/table">
            <a:tbl>
              <a:tblPr/>
              <a:tblGrid>
                <a:gridCol w="873248">
                  <a:extLst>
                    <a:ext uri="{9D8B030D-6E8A-4147-A177-3AD203B41FA5}">
                      <a16:colId xmlns:a16="http://schemas.microsoft.com/office/drawing/2014/main" val="3826261872"/>
                    </a:ext>
                  </a:extLst>
                </a:gridCol>
                <a:gridCol w="2539014">
                  <a:extLst>
                    <a:ext uri="{9D8B030D-6E8A-4147-A177-3AD203B41FA5}">
                      <a16:colId xmlns:a16="http://schemas.microsoft.com/office/drawing/2014/main" val="2461694343"/>
                    </a:ext>
                  </a:extLst>
                </a:gridCol>
              </a:tblGrid>
              <a:tr h="35049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Operator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102208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==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equal to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043997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===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equal value and equal type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460632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!=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not equal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584094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!==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not equal value or not equal type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724598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&gt;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greater than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03055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&lt;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less than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796648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&gt;=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greater than or equal to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664135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&lt;=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less than or equal to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071567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?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ternary operator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05750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37CA7C4-ACA7-4AD7-B5F9-795D9947DDDA}"/>
              </a:ext>
            </a:extLst>
          </p:cNvPr>
          <p:cNvSpPr txBox="1"/>
          <p:nvPr/>
        </p:nvSpPr>
        <p:spPr>
          <a:xfrm>
            <a:off x="4296413" y="1201421"/>
            <a:ext cx="232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Logical Operator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7ABC03-0BD4-462A-8D3D-7DF9CA03C7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449252"/>
              </p:ext>
            </p:extLst>
          </p:nvPr>
        </p:nvGraphicFramePr>
        <p:xfrm>
          <a:off x="4336361" y="1570753"/>
          <a:ext cx="2247910" cy="1363842"/>
        </p:xfrm>
        <a:graphic>
          <a:graphicData uri="http://schemas.openxmlformats.org/drawingml/2006/table">
            <a:tbl>
              <a:tblPr/>
              <a:tblGrid>
                <a:gridCol w="1095189">
                  <a:extLst>
                    <a:ext uri="{9D8B030D-6E8A-4147-A177-3AD203B41FA5}">
                      <a16:colId xmlns:a16="http://schemas.microsoft.com/office/drawing/2014/main" val="1516219749"/>
                    </a:ext>
                  </a:extLst>
                </a:gridCol>
                <a:gridCol w="1152721">
                  <a:extLst>
                    <a:ext uri="{9D8B030D-6E8A-4147-A177-3AD203B41FA5}">
                      <a16:colId xmlns:a16="http://schemas.microsoft.com/office/drawing/2014/main" val="2529423437"/>
                    </a:ext>
                  </a:extLst>
                </a:gridCol>
              </a:tblGrid>
              <a:tr h="348732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Operator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035093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&amp;&amp;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logical and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1189403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||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logical or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481413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!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logical not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77183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F32270A-B54C-498E-99BE-423A9EA55B00}"/>
              </a:ext>
            </a:extLst>
          </p:cNvPr>
          <p:cNvSpPr txBox="1"/>
          <p:nvPr/>
        </p:nvSpPr>
        <p:spPr>
          <a:xfrm>
            <a:off x="4256464" y="3059668"/>
            <a:ext cx="4411378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===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Operator is used for checking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both the value and type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a = 10;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b = "10";</a:t>
            </a:r>
          </a:p>
          <a:p>
            <a:pPr lvl="1"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Both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and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holds the value of 10 but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is of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number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type and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is of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string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type.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a==b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will result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true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as both the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value are same.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a===b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will check value and type. This will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return false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0900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Arithmetic Operations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84F1D2-2193-430E-B40D-FFCBE49D7EDB}"/>
              </a:ext>
            </a:extLst>
          </p:cNvPr>
          <p:cNvSpPr txBox="1"/>
          <p:nvPr/>
        </p:nvSpPr>
        <p:spPr>
          <a:xfrm>
            <a:off x="477535" y="1224576"/>
            <a:ext cx="8213703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Arithmetic operations are like other programming languages.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var a = 10;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var c = a + b * 10;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As in traditional school mathematics, the multiplication is done first.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Multiplication (*) and division (/) have higher precedence than addition (+) and subtraction (-).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And (as in school mathematics) the precedence can be changed by using parentheses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var c = a + b * 10;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many operations have the same precedence (like addition and subtraction), they are computed from left to right.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var c = a + b – 10;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rgbClr val="002060"/>
                </a:solidFill>
                <a:sym typeface="Wingdings" panose="05000000000000000000" pitchFamily="2" charset="2"/>
              </a:rPr>
              <a:t>Must Read: </a:t>
            </a:r>
            <a:r>
              <a:rPr lang="en-US" dirty="0">
                <a:hlinkClick r:id="rId2"/>
              </a:rPr>
              <a:t>https://www.w3schools.com/js/js_arithmetic.asp</a:t>
            </a:r>
            <a:endParaRPr lang="en-US" dirty="0"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/>
            <a:endParaRPr lang="en-US" dirty="0"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5095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475B6-523D-26FD-502C-870CC53C5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93B91CDD-3219-90CC-0C9F-5875AD4528D8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en-US" sz="2600" b="1">
                <a:solidFill>
                  <a:prstClr val="black"/>
                </a:solidFill>
                <a:latin typeface="Calibri"/>
              </a:rPr>
              <a:t>Operations</a:t>
            </a: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B634BF-7525-E80C-9A20-FBED986C77E4}"/>
              </a:ext>
            </a:extLst>
          </p:cNvPr>
          <p:cNvSpPr txBox="1"/>
          <p:nvPr/>
        </p:nvSpPr>
        <p:spPr>
          <a:xfrm>
            <a:off x="477535" y="1224576"/>
            <a:ext cx="8213703" cy="45858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100">
                <a:ea typeface="+mn-lt"/>
                <a:cs typeface="+mn-lt"/>
              </a:rPr>
              <a:t>let str = "Hello, World!";</a:t>
            </a:r>
            <a:endParaRPr lang="en-US" dirty="0">
              <a:ea typeface="Calibri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100">
                <a:ea typeface="+mn-lt"/>
                <a:cs typeface="+mn-lt"/>
              </a:rPr>
              <a:t>let name = "John";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sz="1100">
                <a:ea typeface="+mn-lt"/>
                <a:cs typeface="+mn-lt"/>
              </a:rPr>
              <a:t>// Basic Operations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ea typeface="+mn-lt"/>
                <a:cs typeface="+mn-lt"/>
              </a:rPr>
              <a:t>console.log(</a:t>
            </a:r>
            <a:r>
              <a:rPr lang="en-US" sz="1100" dirty="0" err="1">
                <a:ea typeface="+mn-lt"/>
                <a:cs typeface="+mn-lt"/>
              </a:rPr>
              <a:t>str.length</a:t>
            </a:r>
            <a:r>
              <a:rPr lang="en-US" sz="1100" dirty="0">
                <a:ea typeface="+mn-lt"/>
                <a:cs typeface="+mn-lt"/>
              </a:rPr>
              <a:t>);                    // 13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ea typeface="+mn-lt"/>
                <a:cs typeface="+mn-lt"/>
              </a:rPr>
              <a:t>console.log(</a:t>
            </a:r>
            <a:r>
              <a:rPr lang="en-US" sz="1100" dirty="0" err="1">
                <a:ea typeface="+mn-lt"/>
                <a:cs typeface="+mn-lt"/>
              </a:rPr>
              <a:t>str.toUpperCase</a:t>
            </a:r>
            <a:r>
              <a:rPr lang="en-US" sz="1100" dirty="0">
                <a:ea typeface="+mn-lt"/>
                <a:cs typeface="+mn-lt"/>
              </a:rPr>
              <a:t>());             // "HELLO, WORLD!"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ea typeface="+mn-lt"/>
                <a:cs typeface="+mn-lt"/>
              </a:rPr>
              <a:t>console.log(</a:t>
            </a:r>
            <a:r>
              <a:rPr lang="en-US" sz="1100" dirty="0" err="1">
                <a:ea typeface="+mn-lt"/>
                <a:cs typeface="+mn-lt"/>
              </a:rPr>
              <a:t>str.toLowerCase</a:t>
            </a:r>
            <a:r>
              <a:rPr lang="en-US" sz="1100" dirty="0">
                <a:ea typeface="+mn-lt"/>
                <a:cs typeface="+mn-lt"/>
              </a:rPr>
              <a:t>());             // "hello, world!"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ea typeface="+mn-lt"/>
                <a:cs typeface="+mn-lt"/>
              </a:rPr>
              <a:t>console.log(</a:t>
            </a:r>
            <a:r>
              <a:rPr lang="en-US" sz="1100" dirty="0" err="1">
                <a:ea typeface="+mn-lt"/>
                <a:cs typeface="+mn-lt"/>
              </a:rPr>
              <a:t>str.charAt</a:t>
            </a:r>
            <a:r>
              <a:rPr lang="en-US" sz="1100" dirty="0">
                <a:ea typeface="+mn-lt"/>
                <a:cs typeface="+mn-lt"/>
              </a:rPr>
              <a:t>(1));                  // "e"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ea typeface="+mn-lt"/>
                <a:cs typeface="+mn-lt"/>
              </a:rPr>
              <a:t>console.log(</a:t>
            </a:r>
            <a:r>
              <a:rPr lang="en-US" sz="1100" dirty="0" err="1">
                <a:ea typeface="+mn-lt"/>
                <a:cs typeface="+mn-lt"/>
              </a:rPr>
              <a:t>str.indexOf</a:t>
            </a:r>
            <a:r>
              <a:rPr lang="en-US" sz="1100" dirty="0">
                <a:ea typeface="+mn-lt"/>
                <a:cs typeface="+mn-lt"/>
              </a:rPr>
              <a:t>("World"));           // 7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ea typeface="+mn-lt"/>
                <a:cs typeface="+mn-lt"/>
              </a:rPr>
              <a:t>console.log(</a:t>
            </a:r>
            <a:r>
              <a:rPr lang="en-US" sz="1100" dirty="0" err="1">
                <a:ea typeface="+mn-lt"/>
                <a:cs typeface="+mn-lt"/>
              </a:rPr>
              <a:t>str.includes</a:t>
            </a:r>
            <a:r>
              <a:rPr lang="en-US" sz="1100" dirty="0">
                <a:ea typeface="+mn-lt"/>
                <a:cs typeface="+mn-lt"/>
              </a:rPr>
              <a:t>("Hello"));          // true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sz="1100">
                <a:ea typeface="+mn-lt"/>
                <a:cs typeface="+mn-lt"/>
              </a:rPr>
              <a:t>// String Manipulation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ea typeface="+mn-lt"/>
                <a:cs typeface="+mn-lt"/>
              </a:rPr>
              <a:t>console.log(</a:t>
            </a:r>
            <a:r>
              <a:rPr lang="en-US" sz="1100" dirty="0" err="1">
                <a:ea typeface="+mn-lt"/>
                <a:cs typeface="+mn-lt"/>
              </a:rPr>
              <a:t>str.substring</a:t>
            </a:r>
            <a:r>
              <a:rPr lang="en-US" sz="1100" dirty="0">
                <a:ea typeface="+mn-lt"/>
                <a:cs typeface="+mn-lt"/>
              </a:rPr>
              <a:t>(0, 5));            // "Hello"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ea typeface="+mn-lt"/>
                <a:cs typeface="+mn-lt"/>
              </a:rPr>
              <a:t>console.log(</a:t>
            </a:r>
            <a:r>
              <a:rPr lang="en-US" sz="1100" dirty="0" err="1">
                <a:ea typeface="+mn-lt"/>
                <a:cs typeface="+mn-lt"/>
              </a:rPr>
              <a:t>str.slice</a:t>
            </a:r>
            <a:r>
              <a:rPr lang="en-US" sz="1100" dirty="0">
                <a:ea typeface="+mn-lt"/>
                <a:cs typeface="+mn-lt"/>
              </a:rPr>
              <a:t>(7, 12));               // "World"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ea typeface="+mn-lt"/>
                <a:cs typeface="+mn-lt"/>
              </a:rPr>
              <a:t>console.log(</a:t>
            </a:r>
            <a:r>
              <a:rPr lang="en-US" sz="1100" dirty="0" err="1">
                <a:ea typeface="+mn-lt"/>
                <a:cs typeface="+mn-lt"/>
              </a:rPr>
              <a:t>str.replace</a:t>
            </a:r>
            <a:r>
              <a:rPr lang="en-US" sz="1100" dirty="0">
                <a:ea typeface="+mn-lt"/>
                <a:cs typeface="+mn-lt"/>
              </a:rPr>
              <a:t>("World", "JavaScript")); // "Hello, JavaScript!"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ea typeface="+mn-lt"/>
                <a:cs typeface="+mn-lt"/>
              </a:rPr>
              <a:t>console.log(</a:t>
            </a:r>
            <a:r>
              <a:rPr lang="en-US" sz="1100" dirty="0" err="1">
                <a:ea typeface="+mn-lt"/>
                <a:cs typeface="+mn-lt"/>
              </a:rPr>
              <a:t>str.split</a:t>
            </a:r>
            <a:r>
              <a:rPr lang="en-US" sz="1100" dirty="0">
                <a:ea typeface="+mn-lt"/>
                <a:cs typeface="+mn-lt"/>
              </a:rPr>
              <a:t>(", "));                 // ["Hello", "World!"]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100">
                <a:ea typeface="+mn-lt"/>
                <a:cs typeface="+mn-lt"/>
              </a:rPr>
              <a:t>console.log("   trim me   ".trim());          // "trim me"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ea typeface="+mn-lt"/>
                <a:cs typeface="+mn-lt"/>
              </a:rPr>
              <a:t>console.log(</a:t>
            </a:r>
            <a:r>
              <a:rPr lang="en-US" sz="1100" dirty="0" err="1">
                <a:ea typeface="+mn-lt"/>
                <a:cs typeface="+mn-lt"/>
              </a:rPr>
              <a:t>name.padStart</a:t>
            </a:r>
            <a:r>
              <a:rPr lang="en-US" sz="1100" dirty="0">
                <a:ea typeface="+mn-lt"/>
                <a:cs typeface="+mn-lt"/>
              </a:rPr>
              <a:t>(10, "*"));          // "******John"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ea typeface="+mn-lt"/>
                <a:cs typeface="+mn-lt"/>
              </a:rPr>
              <a:t>console.log(</a:t>
            </a:r>
            <a:r>
              <a:rPr lang="en-US" sz="1100" dirty="0" err="1">
                <a:ea typeface="+mn-lt"/>
                <a:cs typeface="+mn-lt"/>
              </a:rPr>
              <a:t>name.repeat</a:t>
            </a:r>
            <a:r>
              <a:rPr lang="en-US" sz="1100" dirty="0">
                <a:ea typeface="+mn-lt"/>
                <a:cs typeface="+mn-lt"/>
              </a:rPr>
              <a:t>(3));                  // "</a:t>
            </a:r>
            <a:r>
              <a:rPr lang="en-US" sz="1100" dirty="0" err="1">
                <a:ea typeface="+mn-lt"/>
                <a:cs typeface="+mn-lt"/>
              </a:rPr>
              <a:t>JohnJohnJohn</a:t>
            </a:r>
            <a:r>
              <a:rPr lang="en-US" sz="1100" dirty="0">
                <a:ea typeface="+mn-lt"/>
                <a:cs typeface="+mn-lt"/>
              </a:rPr>
              <a:t>"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100">
                <a:ea typeface="+mn-lt"/>
                <a:cs typeface="+mn-lt"/>
              </a:rPr>
              <a:t>// Template Literals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sz="1100">
                <a:ea typeface="+mn-lt"/>
                <a:cs typeface="+mn-lt"/>
              </a:rPr>
              <a:t>let greeting = `Hello, ${name}!`;             // "Hello, John!"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endParaRPr lang="en-US" sz="1100" dirty="0">
              <a:ea typeface="Calibri"/>
              <a:cs typeface="Calibri"/>
            </a:endParaRPr>
          </a:p>
          <a:p>
            <a:pPr lvl="1"/>
            <a:endParaRPr lang="en-US" dirty="0"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5808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1060650"/>
            <a:ext cx="798736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sz="1600" dirty="0"/>
              <a:t>W3Schools Online Web Tutorials; URL: http://www.w3schools.com</a:t>
            </a:r>
          </a:p>
          <a:p>
            <a:r>
              <a:rPr lang="en-US" sz="1600" dirty="0"/>
              <a:t>2. PHP Documentation; URL: http://www.php.net/docs.php</a:t>
            </a:r>
          </a:p>
          <a:p>
            <a:r>
              <a:rPr lang="en-US" sz="1600" dirty="0"/>
              <a:t>3. </a:t>
            </a:r>
            <a:r>
              <a:rPr lang="en-US" sz="1600" dirty="0" err="1"/>
              <a:t>Sams</a:t>
            </a:r>
            <a:r>
              <a:rPr lang="en-US" sz="1600" dirty="0"/>
              <a:t> Teach Yourself Ajax JavaScript and PHP All in One; Phil Ballard and Michael Moncur;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Sams</a:t>
            </a:r>
            <a:r>
              <a:rPr lang="en-US" sz="1600" dirty="0"/>
              <a:t> Publishing; 2010</a:t>
            </a:r>
          </a:p>
          <a:p>
            <a:r>
              <a:rPr lang="en-US" sz="1600" dirty="0"/>
              <a:t>4. JavaScript Phrasebook; Christian Wenz; </a:t>
            </a:r>
            <a:r>
              <a:rPr lang="en-US" sz="1600" dirty="0" err="1"/>
              <a:t>Sams</a:t>
            </a:r>
            <a:r>
              <a:rPr lang="en-US" sz="1600" dirty="0"/>
              <a:t> Publishing; 2007</a:t>
            </a:r>
          </a:p>
          <a:p>
            <a:r>
              <a:rPr lang="en-US" sz="1600" dirty="0"/>
              <a:t>5. PHP and MySQL Web Development, 4/E; Luke Welling and Laura Thomson; </a:t>
            </a:r>
            <a:r>
              <a:rPr lang="en-US" sz="1600" dirty="0" err="1"/>
              <a:t>AddisonWesley</a:t>
            </a:r>
            <a:endParaRPr lang="en-US" sz="1600" dirty="0"/>
          </a:p>
          <a:p>
            <a:r>
              <a:rPr lang="en-US" sz="1600" dirty="0"/>
              <a:t>    Professional; 2009</a:t>
            </a:r>
          </a:p>
          <a:p>
            <a:r>
              <a:rPr lang="en-US" sz="1600" dirty="0"/>
              <a:t>6. JavaScript for Programmers Paul J. </a:t>
            </a:r>
            <a:r>
              <a:rPr lang="en-US" sz="1600" dirty="0" err="1"/>
              <a:t>Deitel</a:t>
            </a:r>
            <a:r>
              <a:rPr lang="en-US" sz="1600" dirty="0"/>
              <a:t> and Harvey M. </a:t>
            </a:r>
            <a:r>
              <a:rPr lang="en-US" sz="1600" dirty="0" err="1"/>
              <a:t>Deitel</a:t>
            </a:r>
            <a:r>
              <a:rPr lang="en-US" sz="1600" dirty="0"/>
              <a:t>; Prentice Hall; 2009</a:t>
            </a:r>
          </a:p>
          <a:p>
            <a:r>
              <a:rPr lang="en-US" sz="1600" dirty="0"/>
              <a:t>7. Beginning PHP5, Apache, and MySQL Web Development; Elizabeth </a:t>
            </a:r>
            <a:r>
              <a:rPr lang="en-US" sz="1600" dirty="0" err="1"/>
              <a:t>Naramore</a:t>
            </a:r>
            <a:r>
              <a:rPr lang="en-US" sz="1600" dirty="0"/>
              <a:t>, Jason</a:t>
            </a:r>
          </a:p>
          <a:p>
            <a:r>
              <a:rPr lang="en-US" sz="1600" dirty="0"/>
              <a:t>     </a:t>
            </a:r>
            <a:r>
              <a:rPr lang="en-US" sz="1600" dirty="0" err="1"/>
              <a:t>Gerner</a:t>
            </a:r>
            <a:r>
              <a:rPr lang="en-US" sz="1600" dirty="0"/>
              <a:t>, Yann Le </a:t>
            </a:r>
            <a:r>
              <a:rPr lang="en-US" sz="1600" dirty="0" err="1"/>
              <a:t>Scouarnec</a:t>
            </a:r>
            <a:r>
              <a:rPr lang="en-US" sz="1600" dirty="0"/>
              <a:t>, Jeremy Stolz and Michael K. Glass; Wiley Publishing; 2005</a:t>
            </a:r>
          </a:p>
          <a:p>
            <a:r>
              <a:rPr lang="en-US" sz="1600" dirty="0"/>
              <a:t>8. XML in a Nutshell, 3/E; </a:t>
            </a:r>
            <a:r>
              <a:rPr lang="en-US" sz="1600" dirty="0" err="1"/>
              <a:t>Elliotte</a:t>
            </a:r>
            <a:r>
              <a:rPr lang="en-US" sz="1600" dirty="0"/>
              <a:t> Rusty Harold and W. Scott Means; O'Reilly Media; 2004</a:t>
            </a:r>
            <a:endParaRPr lang="x-none" sz="16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517442" y="1088514"/>
            <a:ext cx="5933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hlinkClick r:id="rId2"/>
              </a:rPr>
              <a:t>https://www.w3schools.com/js/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3"/>
              </a:rPr>
              <a:t>https://www.springboard.com/blog/history-of-javascript/</a:t>
            </a:r>
            <a:endParaRPr lang="en-US" dirty="0"/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953</TotalTime>
  <Words>3289</Words>
  <Application>Microsoft Office PowerPoint</Application>
  <PresentationFormat>On-screen Show (4:3)</PresentationFormat>
  <Paragraphs>387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Consolas</vt:lpstr>
      <vt:lpstr>Corbel</vt:lpstr>
      <vt:lpstr>Times New Roman</vt:lpstr>
      <vt:lpstr>Wingdings</vt:lpstr>
      <vt:lpstr>Spectrum</vt:lpstr>
      <vt:lpstr>JavaScript Introduction</vt:lpstr>
      <vt:lpstr>Lecture Outline</vt:lpstr>
      <vt:lpstr>Introduction to JavaScript</vt:lpstr>
      <vt:lpstr>Usage of JavaScript</vt:lpstr>
      <vt:lpstr>Where and How to Use JS</vt:lpstr>
      <vt:lpstr>Where and How to Use JS</vt:lpstr>
      <vt:lpstr>PowerPoint Presentation</vt:lpstr>
      <vt:lpstr>PowerPoint Presentation</vt:lpstr>
      <vt:lpstr>JS Variables and Data Types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JS Syntax, Output, Statements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JS Operators and Arithmetic operations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Sadik Tasrif Anuvob</cp:lastModifiedBy>
  <cp:revision>105</cp:revision>
  <dcterms:created xsi:type="dcterms:W3CDTF">2018-12-10T17:20:29Z</dcterms:created>
  <dcterms:modified xsi:type="dcterms:W3CDTF">2026-07-06T06:39:26Z</dcterms:modified>
</cp:coreProperties>
</file>